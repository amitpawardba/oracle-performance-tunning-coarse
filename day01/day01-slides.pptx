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under 5 minutes — set a visible timer if needed. This is a template for Amit to fill in before teaching, not a script to read verbatim.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it, don't over-explain it yet — the Hook is about to demonstrate it in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roughly which day-range each stage covers, but don't read the full 34-row table — that's not this slide's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 — let the stakes land before opening any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Narrate that the job is now running in the background while we investigate — don't wait for it to finish before starting.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talking for a few seconds; let the room look at the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moment to say: “this is the discipline the whole course is built around.”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the Estimated-vs-Actual rows output — that number IS the punchline of this whole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key talking point, not a footnote — the fix targets the proven root cause (stale/locked stats), not the symptom.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silence sit; don't rush to fill it. This is discussion, not a graded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&amp; The Hook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proves itself in the first hour.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Performance Tuning &amp; Troubleshooting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Amit Pawar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Your Instructor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years as a working Oracle DBA: _____________________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production incidents you solved (industry/scale, not confidential specifics): _____________________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kind of environment you've worked in most — OLTP / reporting / mixed / regulated industry: _____________________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course is evidence-first, not slide-first, in your own words: _____________________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 One thing you still find genuinely hard or interesting about performance work: _____________________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solved real production incidents; this course is built the way I actually investigate — evidence-first.”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BUILDS ON THIS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Course Philosophy — One Line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57734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40864"/>
            <a:ext cx="14859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12598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46020" y="2286000"/>
            <a:ext cx="157734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91740" y="2340864"/>
            <a:ext cx="14859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43400" y="2286000"/>
            <a:ext cx="157734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0" y="2340864"/>
            <a:ext cx="14859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HYPOTHESIZE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92074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40780" y="2286000"/>
            <a:ext cx="157734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86500" y="2340864"/>
            <a:ext cx="14859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38160" y="2286000"/>
            <a:ext cx="157734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2340864"/>
            <a:ext cx="14859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71550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035540" y="2286000"/>
            <a:ext cx="157734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81260" y="2340864"/>
            <a:ext cx="14859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repeats every single day of the course.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ROADMAP, ONE SCREEN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Course Is Going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306286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40864"/>
            <a:ext cx="121484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HOOK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73552"/>
            <a:ext cx="1489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method works (Days 1–2)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854926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74966" y="2286000"/>
            <a:ext cx="1306286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20686" y="2340864"/>
            <a:ext cx="121484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ARCHITECTURE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083526" y="3273552"/>
            <a:ext cx="1489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you're looking at (Days 3–9)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481251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01291" y="2286000"/>
            <a:ext cx="1306286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7011" y="2340864"/>
            <a:ext cx="121484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DIAGNOSTICS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09851" y="3273552"/>
            <a:ext cx="1489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V$ views, waits, OS metrics (10–11)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107577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27617" y="2286000"/>
            <a:ext cx="1306286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73337" y="2340864"/>
            <a:ext cx="121484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EVIDENCE TOOLKIT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336177" y="3273552"/>
            <a:ext cx="1489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AWR/ASH, daily-use toolkit (12–18)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733903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53943" y="2286000"/>
            <a:ext cx="1306286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99663" y="2340864"/>
            <a:ext cx="121484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SQL / PLANS / OPTIMIZER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962503" y="3273552"/>
            <a:ext cx="1489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plan? (19–27)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360229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680269" y="2286000"/>
            <a:ext cx="1306286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25989" y="2340864"/>
            <a:ext cx="121484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MEMORY/I-O/CONCURRENCY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588829" y="3273552"/>
            <a:ext cx="1489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resource stages (28–33)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986554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0306594" y="2286000"/>
            <a:ext cx="1306286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52314" y="2340864"/>
            <a:ext cx="121484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0215154" y="3273552"/>
            <a:ext cx="1489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at once, no help (34)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whole shape of where we're going, before we go anywhere.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45-Minute Mystery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DCEE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SCENARIO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reconciliation job that finishes in 4 minutes took 45 minutes last night.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wants to know why the daily numbers were late.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“changed” on purpose — or so everyone believes.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74920" y="2011680"/>
            <a:ext cx="2720340" cy="2194560"/>
          </a:xfrm>
          <a:prstGeom prst="roundRect">
            <a:avLst>
              <a:gd name="adj" fmla="val 4167"/>
            </a:avLst>
          </a:prstGeom>
          <a:solidFill>
            <a:srgbClr val="F4F8FB"/>
          </a:solidFill>
          <a:ln w="19050">
            <a:solidFill>
              <a:srgbClr val="2C6E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4920" y="2240280"/>
            <a:ext cx="27203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min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3520440"/>
            <a:ext cx="2720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 run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92540" y="2011680"/>
            <a:ext cx="2720340" cy="2194560"/>
          </a:xfrm>
          <a:prstGeom prst="roundRect">
            <a:avLst>
              <a:gd name="adj" fmla="val 4167"/>
            </a:avLst>
          </a:prstGeom>
          <a:solidFill>
            <a:srgbClr val="F4F8FB"/>
          </a:solidFill>
          <a:ln w="19050">
            <a:solidFill>
              <a:srgbClr val="B23A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92540" y="2240280"/>
            <a:ext cx="27203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892540" y="3520440"/>
            <a:ext cx="2720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night's run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95260" y="2788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2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real, business-visible incident shape — not an academic exercise.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Baseline, Then Reproduce It Live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BEB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RECON_RUN_LOG — every prior run's duration, laid out as history.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today's run via DBMS_SCHEDULER — it's now running in the background.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investigate while it runs, exactly like a real incident.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 run looked like this — let's watch today's run happen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ASH VISUALIZATION TOOL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Picture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BEB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2C6E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 Run (baseline)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green CPU band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minutes, done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B23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Live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red wait-event band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running past 40 minutes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something changed, and roughly when, before reading a single line of SQL.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Ruling Out False Leads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BEB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More Data?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row counts vs. baseline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 normal — ruled out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Blocking?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BLOCKING_SESSION / V$LOCK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blockers found — ruled out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investigations check plausible guesses instead of arguing about them.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NARROWING DOWN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Picture to Proof, in Five Queries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BEB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52603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340864"/>
            <a:ext cx="24345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ACTIVITY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074670" y="2249424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94710" y="2286000"/>
            <a:ext cx="252603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40430" y="2340864"/>
            <a:ext cx="24345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SQL_ID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920740" y="2249424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40780" y="2286000"/>
            <a:ext cx="252603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86500" y="2340864"/>
            <a:ext cx="24345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WAIT EVENT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766810" y="2249424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086850" y="2286000"/>
            <a:ext cx="252603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32570" y="2340864"/>
            <a:ext cx="24345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 LINE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to proof, in five queries — diagnose.sql Steps A, D–H.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and Validate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BEB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fix.sql — unlock stats, then GATHER_TABLE_STATS (not a hint, not a forced index).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validate.sql — rerun the job, compare elapsed time, plan_hash_value, and wait profile.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query, same data, correct plan — proven, not felt.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explicitly why a hint or forced index would have been the wrong fix here.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— DISCUSSION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You Notice?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very first piece of evidence that told us something had changed?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we check false leads before jumping to the SQL?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have happened if we'd just added an index without proving the cause?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this chain could you have gotten stuck if you were doing this alone?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real investigation — and you just watched the whole loop happen once.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→ Observe → Hypothesize → Prove → Change → Validate — the loop you'll use every day.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Picture, then proof: a visual first look narrows the search before you write SQL.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leads are normal — ruling something out with evidence is real progress.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416052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RECON_RUN_LOG baseline query and diagnose.sql — be ready to run this exact chain yourself tomorrow.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4864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yesterday you watched this happen; today you'll drive the same chain yourself, start to finish.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Oracle Database Performance Tuning and Troubleshooting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1: Welcome and The Hook</dc:title>
  <dc:subject>Day 1: Welcome and The Hook</dc:subject>
  <dc:creator>Amit Pawar</dc:creator>
  <cp:lastModifiedBy>Amit Pawar</cp:lastModifiedBy>
  <cp:revision>1</cp:revision>
  <dcterms:created xsi:type="dcterms:W3CDTF">2026-08-28T19:54:09Z</dcterms:created>
  <dcterms:modified xsi:type="dcterms:W3CDTF">2026-08-28T19:54:09Z</dcterms:modified>
</cp:coreProperties>
</file>
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brief — a one-line bridge each, not a re-teach of Day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Blocks group into extents, extents group into segments, segments live in a tablespace, a tablespace maps to datafiles. Read the arrows aloud as 'grouped into'.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who only learn bottom-up can trace a row but not reason about capacity; students who only learn top-down understand allocation but can't find a row. Teach both.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Warn about the ROWID-vs-primary-key trap: TRUNCATE changes the data object id and can invalidate ROWIDs written down earlier; a plain DELETE does not.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SQL for every step is in demo.sql. This is the same chain the lab has each student repeat independently on a different row.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the instance crashes a second after commit, the data block may still only be in memory — but the redo is already on disk, and recovery replays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V$LOG shows STATUS for every group; V$LOGFILE shows the physical member files behind each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job one, and it's the one most beginners learn first — which is precisely why it becomes a trap.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single clearest disproof of 'undo is only for rollback'. This genuinely needs a second session to land — if running solo, narrate it step by step against demo.sql and do not skip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Redo protects durability. Undo protects reversibility and consistency. Related — undo writes generate redo too — but they solve different problems.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3291840"/>
            <a:ext cx="5943600" cy="5943600"/>
          </a:xfrm>
          <a:prstGeom prst="ellipse">
            <a:avLst/>
          </a:prstGeom>
          <a:solidFill>
            <a:srgbClr val="065A82">
              <a:alpha val="3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417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9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74520"/>
            <a:ext cx="10241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Bootcamp II: Storage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9476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Datafiles, tablespaces, segments, redo &amp; undo — how a row actually lives on disk.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Database Performance Tuning &amp; Troubleshooting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6309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 Amit Pawar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BRIDGE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Are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Performance Tuning &amp; Troubleshooting  •  Day 4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418320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91640"/>
            <a:ext cx="106070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gave you the instance and memory architecture — SGA, PGA, background processes.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(Day 4): the physical and logical storage stack underneath every table you've ever queried.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performance-tuning framing today — this is core architecture every DBA needs, tuning or not.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 (Day 5): which process actually performs the writes described today — LGWR, DBWn, and friends.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580644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4F8FB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580644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   </a:t>
            </a:r>
            <a:pPr indent="0" marL="0">
              <a:buNone/>
            </a:pPr>
            <a:r>
              <a:rPr lang="en-US" sz="1250" i="1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&amp; memory (Day 3) → storage (Day 4) → processes (Day 5) — one continuous chain.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→ EXTENT → SEGMENT → TABLESPACE → DATAFILE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Storage Hierarchy — Bottom Up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Performance Tuning &amp; Troubleshooting  •  Day 4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418320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1956816" cy="960120"/>
          </a:xfrm>
          <a:prstGeom prst="roundRect">
            <a:avLst>
              <a:gd name="adj" fmla="val 5714"/>
            </a:avLst>
          </a:prstGeom>
          <a:solidFill>
            <a:srgbClr val="F4F8FB"/>
          </a:solidFill>
          <a:ln w="15875">
            <a:solidFill>
              <a:srgbClr val="21295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2340864"/>
            <a:ext cx="186537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319272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~8KB; smallest unit of I/O; rows live here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2505456" y="2249424"/>
            <a:ext cx="320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825496" y="2286000"/>
            <a:ext cx="1956816" cy="960120"/>
          </a:xfrm>
          <a:prstGeom prst="roundRect">
            <a:avLst>
              <a:gd name="adj" fmla="val 5714"/>
            </a:avLst>
          </a:prstGeom>
          <a:solidFill>
            <a:srgbClr val="F4F8FB"/>
          </a:solidFill>
          <a:ln w="15875">
            <a:solidFill>
              <a:srgbClr val="21295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871216" y="2340864"/>
            <a:ext cx="186537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EXTENT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734056" y="3319272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contiguous blocks, allocated together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4782312" y="2249424"/>
            <a:ext cx="320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102352" y="2286000"/>
            <a:ext cx="1956816" cy="960120"/>
          </a:xfrm>
          <a:prstGeom prst="roundRect">
            <a:avLst>
              <a:gd name="adj" fmla="val 5714"/>
            </a:avLst>
          </a:prstGeom>
          <a:solidFill>
            <a:srgbClr val="F4F8FB"/>
          </a:solidFill>
          <a:ln w="15875">
            <a:solidFill>
              <a:srgbClr val="21295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148072" y="2340864"/>
            <a:ext cx="186537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010912" y="3319272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extents for one object (DBA_SEGMENTS)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7059168" y="2249424"/>
            <a:ext cx="320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7379208" y="2286000"/>
            <a:ext cx="1956816" cy="960120"/>
          </a:xfrm>
          <a:prstGeom prst="roundRect">
            <a:avLst>
              <a:gd name="adj" fmla="val 5714"/>
            </a:avLst>
          </a:prstGeom>
          <a:solidFill>
            <a:srgbClr val="F4F8FB"/>
          </a:solidFill>
          <a:ln w="15875">
            <a:solidFill>
              <a:srgbClr val="21295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424928" y="2340864"/>
            <a:ext cx="186537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TABLESPACE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287768" y="3319272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umbrella; unit of quota &amp; backup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9336024" y="2249424"/>
            <a:ext cx="320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9656064" y="2286000"/>
            <a:ext cx="1956816" cy="960120"/>
          </a:xfrm>
          <a:prstGeom prst="roundRect">
            <a:avLst>
              <a:gd name="adj" fmla="val 5714"/>
            </a:avLst>
          </a:prstGeom>
          <a:solidFill>
            <a:srgbClr val="F4F8FB"/>
          </a:solidFill>
          <a:ln w="15875">
            <a:solidFill>
              <a:srgbClr val="21295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701784" y="2340864"/>
            <a:ext cx="186537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DATAFILE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9564624" y="3319272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OS file — where the bytes live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48640" y="580644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4F8FB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77240" y="580644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   </a:t>
            </a:r>
            <a:pPr indent="0" marL="0">
              <a:buNone/>
            </a:pPr>
            <a:r>
              <a:rPr lang="en-US" sz="1250" i="1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into, grouped into, grouped into, grouped into — smallest to largest.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HIERARCHY, OTHER DIRECTION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Storage Hierarchy — Top Down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Performance Tuning &amp; Troubleshooting  •  Day 4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418320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42062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a datafile — it belongs to exactly one tablespace.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tablespace maps to ONE OR MORE datafiles.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segment's extents CAN span multiple datafiles in that tablespace.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Bottom-up and top-down meet in the middle — same hierarchy, both directions.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74920" y="2286000"/>
            <a:ext cx="1051560" cy="960120"/>
          </a:xfrm>
          <a:prstGeom prst="roundRect">
            <a:avLst>
              <a:gd name="adj" fmla="val 5714"/>
            </a:avLst>
          </a:prstGeom>
          <a:solidFill>
            <a:srgbClr val="F4F8FB"/>
          </a:solidFill>
          <a:ln w="15875">
            <a:solidFill>
              <a:srgbClr val="21295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120640" y="2340864"/>
            <a:ext cx="9601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DATAFILE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4983480" y="331927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OS file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6126480" y="2249424"/>
            <a:ext cx="320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446520" y="2286000"/>
            <a:ext cx="1051560" cy="960120"/>
          </a:xfrm>
          <a:prstGeom prst="roundRect">
            <a:avLst>
              <a:gd name="adj" fmla="val 5714"/>
            </a:avLst>
          </a:prstGeom>
          <a:solidFill>
            <a:srgbClr val="F4F8FB"/>
          </a:solidFill>
          <a:ln w="15875">
            <a:solidFill>
              <a:srgbClr val="21295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92240" y="2340864"/>
            <a:ext cx="9601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TABLESPACE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355080" y="331927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or more datafiles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7498080" y="2249424"/>
            <a:ext cx="320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7818120" y="2286000"/>
            <a:ext cx="1051560" cy="960120"/>
          </a:xfrm>
          <a:prstGeom prst="roundRect">
            <a:avLst>
              <a:gd name="adj" fmla="val 5714"/>
            </a:avLst>
          </a:prstGeom>
          <a:solidFill>
            <a:srgbClr val="F4F8FB"/>
          </a:solidFill>
          <a:ln w="15875">
            <a:solidFill>
              <a:srgbClr val="21295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863840" y="2340864"/>
            <a:ext cx="9601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7726680" y="331927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across the files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8869680" y="2249424"/>
            <a:ext cx="320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9189720" y="2286000"/>
            <a:ext cx="1051560" cy="960120"/>
          </a:xfrm>
          <a:prstGeom prst="roundRect">
            <a:avLst>
              <a:gd name="adj" fmla="val 5714"/>
            </a:avLst>
          </a:prstGeom>
          <a:solidFill>
            <a:srgbClr val="F4F8FB"/>
          </a:solidFill>
          <a:ln w="15875">
            <a:solidFill>
              <a:srgbClr val="21295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235440" y="2340864"/>
            <a:ext cx="9601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EXTENT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9098280" y="331927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datafile each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10241280" y="2249424"/>
            <a:ext cx="320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10561320" y="2286000"/>
            <a:ext cx="1051560" cy="960120"/>
          </a:xfrm>
          <a:prstGeom prst="roundRect">
            <a:avLst>
              <a:gd name="adj" fmla="val 5714"/>
            </a:avLst>
          </a:prstGeom>
          <a:solidFill>
            <a:srgbClr val="F4F8FB"/>
          </a:solidFill>
          <a:ln w="15875">
            <a:solidFill>
              <a:srgbClr val="21295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607040" y="2340864"/>
            <a:ext cx="9601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10469880" y="331927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rows live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48640" y="580644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4F8FB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77240" y="580644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   </a:t>
            </a:r>
            <a:pPr indent="0" marL="0">
              <a:buNone/>
            </a:pPr>
            <a:r>
              <a:rPr lang="en-US" sz="1250" i="1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of, made of, made of, made of — largest to smallest, same hierarchy.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PHYSICAL ADDRESS, NOT AN OPAQUE ID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ROWID Anatomy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Performance Tuning &amp; Troubleshooting  •  Day 4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418320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42062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ROWID is literally an address — not a generated surrogate value.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DBMS_ROWID is how you read that address, piece by piece.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ROWID, four functions, four physical facts about one row.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74920" y="2286000"/>
            <a:ext cx="1394460" cy="777240"/>
          </a:xfrm>
          <a:prstGeom prst="roundRect">
            <a:avLst>
              <a:gd name="adj" fmla="val 7059"/>
            </a:avLst>
          </a:prstGeom>
          <a:solidFill>
            <a:srgbClr val="F4F8FB"/>
          </a:solidFill>
          <a:ln w="15875">
            <a:solidFill>
              <a:srgbClr val="21295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120640" y="2340864"/>
            <a:ext cx="13030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983480" y="3136392"/>
            <a:ext cx="15773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ROWID_OBJECT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6469380" y="2249424"/>
            <a:ext cx="320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789420" y="2286000"/>
            <a:ext cx="1394460" cy="777240"/>
          </a:xfrm>
          <a:prstGeom prst="roundRect">
            <a:avLst>
              <a:gd name="adj" fmla="val 7059"/>
            </a:avLst>
          </a:prstGeom>
          <a:solidFill>
            <a:srgbClr val="F4F8FB"/>
          </a:solidFill>
          <a:ln w="15875">
            <a:solidFill>
              <a:srgbClr val="21295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35140" y="2340864"/>
            <a:ext cx="13030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697980" y="3136392"/>
            <a:ext cx="15773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ROWID_RELATIVE_FNO / ROWID_TO_ABSOLUTE_FNO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8183880" y="2249424"/>
            <a:ext cx="320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8503920" y="2286000"/>
            <a:ext cx="1394460" cy="777240"/>
          </a:xfrm>
          <a:prstGeom prst="roundRect">
            <a:avLst>
              <a:gd name="adj" fmla="val 7059"/>
            </a:avLst>
          </a:prstGeom>
          <a:solidFill>
            <a:srgbClr val="F4F8FB"/>
          </a:solidFill>
          <a:ln w="15875">
            <a:solidFill>
              <a:srgbClr val="21295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549640" y="2340864"/>
            <a:ext cx="13030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0" y="3136392"/>
            <a:ext cx="15773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ROWID_BLOCK_NUMBER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9898380" y="2249424"/>
            <a:ext cx="320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10218420" y="2286000"/>
            <a:ext cx="1394460" cy="777240"/>
          </a:xfrm>
          <a:prstGeom prst="roundRect">
            <a:avLst>
              <a:gd name="adj" fmla="val 7059"/>
            </a:avLst>
          </a:prstGeom>
          <a:solidFill>
            <a:srgbClr val="F4F8FB"/>
          </a:solidFill>
          <a:ln w="15875">
            <a:solidFill>
              <a:srgbClr val="21295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264140" y="2340864"/>
            <a:ext cx="13030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0126980" y="3136392"/>
            <a:ext cx="15773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ROWID_ROW_NUMBER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48640" y="580644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4F8FB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7240" y="580644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   </a:t>
            </a:r>
            <a:pPr indent="0" marL="0">
              <a:buNone/>
            </a:pPr>
            <a:r>
              <a:rPr lang="en-US" sz="1250" i="1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ROWID is not an opaque ID — it's an address, and DBMS_ROWID reads it.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— ROW TO PHYSICAL FILE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 Checkpoint 1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189720" y="384048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FBEBD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89720" y="38404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C9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Performance Tuning &amp; Troubleshooting  •  Day 4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9418320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600200"/>
            <a:ext cx="42062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one row's ROWID from D4_DEMO_ORDERS with a plain SELECT.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 it with DBMS_ROWID against the theory diagram, piece by piece.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the decoded file + block against DBA_EXTENTS to find the owning extent.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physical OS file name and tablespace via DBA_DATA_FILES.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074920" y="2286000"/>
            <a:ext cx="1394460" cy="777240"/>
          </a:xfrm>
          <a:prstGeom prst="roundRect">
            <a:avLst>
              <a:gd name="adj" fmla="val 7059"/>
            </a:avLst>
          </a:prstGeom>
          <a:solidFill>
            <a:srgbClr val="F4F8FB"/>
          </a:solidFill>
          <a:ln w="15875">
            <a:solidFill>
              <a:srgbClr val="21295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120640" y="2340864"/>
            <a:ext cx="13030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4983480" y="3136392"/>
            <a:ext cx="15773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ROWID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6469380" y="2249424"/>
            <a:ext cx="320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789420" y="2286000"/>
            <a:ext cx="1394460" cy="777240"/>
          </a:xfrm>
          <a:prstGeom prst="roundRect">
            <a:avLst>
              <a:gd name="adj" fmla="val 7059"/>
            </a:avLst>
          </a:prstGeom>
          <a:solidFill>
            <a:srgbClr val="F4F8FB"/>
          </a:solidFill>
          <a:ln w="15875">
            <a:solidFill>
              <a:srgbClr val="21295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35140" y="2340864"/>
            <a:ext cx="13030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DECODED ROWID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697980" y="3136392"/>
            <a:ext cx="15773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DBMS_ROWID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8183880" y="2249424"/>
            <a:ext cx="320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8503920" y="2286000"/>
            <a:ext cx="1394460" cy="777240"/>
          </a:xfrm>
          <a:prstGeom prst="roundRect">
            <a:avLst>
              <a:gd name="adj" fmla="val 7059"/>
            </a:avLst>
          </a:prstGeom>
          <a:solidFill>
            <a:srgbClr val="F4F8FB"/>
          </a:solidFill>
          <a:ln w="15875">
            <a:solidFill>
              <a:srgbClr val="21295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549640" y="2340864"/>
            <a:ext cx="13030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DBA_EXTENTS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8412480" y="3136392"/>
            <a:ext cx="15773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owning extent + segment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9898380" y="2249424"/>
            <a:ext cx="320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10218420" y="2286000"/>
            <a:ext cx="1394460" cy="777240"/>
          </a:xfrm>
          <a:prstGeom prst="roundRect">
            <a:avLst>
              <a:gd name="adj" fmla="val 7059"/>
            </a:avLst>
          </a:prstGeom>
          <a:solidFill>
            <a:srgbClr val="F4F8FB"/>
          </a:solidFill>
          <a:ln w="15875">
            <a:solidFill>
              <a:srgbClr val="21295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264140" y="2340864"/>
            <a:ext cx="13030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DBA_DATA_FILES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10126980" y="3136392"/>
            <a:ext cx="15773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OS file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48640" y="580644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4F8FB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77240" y="580644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   </a:t>
            </a:r>
            <a:pPr indent="0" marL="0">
              <a:buNone/>
            </a:pPr>
            <a:r>
              <a:rPr lang="en-US" sz="1250" i="1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Bottom-up and top-down meet in the middle — this trace proves it live.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DURABILITY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Redo Exists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Performance Tuning &amp; Troubleshooting  •  Day 4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418320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42062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buffers changed blocks in memory — it does NOT write them to disk on every change.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 generates a redo change vector: a compact record of 'what changed'.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COMMIT, LGWR flushes the log buffer to the online redo log — synchronously.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changed data block itself reaches its datafile LATER, asynchronously, via DBWn.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74920" y="2286000"/>
            <a:ext cx="1394460" cy="960120"/>
          </a:xfrm>
          <a:prstGeom prst="roundRect">
            <a:avLst>
              <a:gd name="adj" fmla="val 5714"/>
            </a:avLst>
          </a:prstGeom>
          <a:solidFill>
            <a:srgbClr val="F4F8FB"/>
          </a:solidFill>
          <a:ln w="15875">
            <a:solidFill>
              <a:srgbClr val="21295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120640" y="2340864"/>
            <a:ext cx="13030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CHANGE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4983480" y="3319272"/>
            <a:ext cx="15773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vector generated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6469380" y="2249424"/>
            <a:ext cx="320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789420" y="2286000"/>
            <a:ext cx="1394460" cy="960120"/>
          </a:xfrm>
          <a:prstGeom prst="roundRect">
            <a:avLst>
              <a:gd name="adj" fmla="val 5714"/>
            </a:avLst>
          </a:prstGeom>
          <a:solidFill>
            <a:srgbClr val="F4F8FB"/>
          </a:solidFill>
          <a:ln w="15875">
            <a:solidFill>
              <a:srgbClr val="21295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35140" y="2340864"/>
            <a:ext cx="13030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BUFFER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697980" y="3319272"/>
            <a:ext cx="15773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 in memory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8183880" y="2249424"/>
            <a:ext cx="320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8503920" y="2286000"/>
            <a:ext cx="1394460" cy="960120"/>
          </a:xfrm>
          <a:prstGeom prst="roundRect">
            <a:avLst>
              <a:gd name="adj" fmla="val 5714"/>
            </a:avLst>
          </a:prstGeom>
          <a:solidFill>
            <a:srgbClr val="F4F8FB"/>
          </a:solidFill>
          <a:ln w="15875">
            <a:solidFill>
              <a:srgbClr val="21295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549640" y="2340864"/>
            <a:ext cx="13030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LGWR (at COMMIT)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8412480" y="3319272"/>
            <a:ext cx="15773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synchronous flush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9898380" y="2249424"/>
            <a:ext cx="320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10218420" y="2286000"/>
            <a:ext cx="1394460" cy="960120"/>
          </a:xfrm>
          <a:prstGeom prst="roundRect">
            <a:avLst>
              <a:gd name="adj" fmla="val 5714"/>
            </a:avLst>
          </a:prstGeom>
          <a:solidFill>
            <a:srgbClr val="F4F8FB"/>
          </a:solidFill>
          <a:ln w="15875">
            <a:solidFill>
              <a:srgbClr val="21295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264140" y="2340864"/>
            <a:ext cx="13030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REDO LOG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10126980" y="3319272"/>
            <a:ext cx="15773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durably on disk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48640" y="580644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4F8FB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7240" y="580644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   </a:t>
            </a:r>
            <a:pPr indent="0" marL="0">
              <a:buNone/>
            </a:pPr>
            <a:r>
              <a:rPr lang="en-US" sz="1250" i="1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Durability — nothing committed is ever lost.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→ ACTIVE → INACTIVE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Redo Log Lifecycle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Performance Tuning &amp; Troubleshooting  •  Day 4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418320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42062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Redo logs are organized into numbered groups.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group has one or more mirrored MEMBERS for safety.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LGWR writes only to whichever group is currently CURRENT.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CURRENT group triggers a log switch to the next group.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74920" y="2286000"/>
            <a:ext cx="1965960" cy="960120"/>
          </a:xfrm>
          <a:prstGeom prst="roundRect">
            <a:avLst>
              <a:gd name="adj" fmla="val 5714"/>
            </a:avLst>
          </a:prstGeom>
          <a:solidFill>
            <a:srgbClr val="F4F8FB"/>
          </a:solidFill>
          <a:ln w="15875">
            <a:solidFill>
              <a:srgbClr val="21295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120640" y="2340864"/>
            <a:ext cx="18745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4983480" y="3319272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LGWR writing here now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7040880" y="2249424"/>
            <a:ext cx="320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360920" y="2286000"/>
            <a:ext cx="1965960" cy="960120"/>
          </a:xfrm>
          <a:prstGeom prst="roundRect">
            <a:avLst>
              <a:gd name="adj" fmla="val 5714"/>
            </a:avLst>
          </a:prstGeom>
          <a:solidFill>
            <a:srgbClr val="F4F8FB"/>
          </a:solidFill>
          <a:ln w="15875">
            <a:solidFill>
              <a:srgbClr val="21295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06640" y="2340864"/>
            <a:ext cx="18745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7269480" y="3319272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switch just happened; checkpoint pending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9326880" y="2249424"/>
            <a:ext cx="320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9646920" y="2286000"/>
            <a:ext cx="1965960" cy="960120"/>
          </a:xfrm>
          <a:prstGeom prst="roundRect">
            <a:avLst>
              <a:gd name="adj" fmla="val 5714"/>
            </a:avLst>
          </a:prstGeom>
          <a:solidFill>
            <a:srgbClr val="F4F8FB"/>
          </a:solidFill>
          <a:ln w="15875">
            <a:solidFill>
              <a:srgbClr val="21295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692640" y="2340864"/>
            <a:ext cx="18745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INACTIVE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9555480" y="3319272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complete — safe to reuse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48640" y="580644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4F8FB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580644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   </a:t>
            </a:r>
            <a:pPr indent="0" marL="0">
              <a:buNone/>
            </a:pPr>
            <a:r>
              <a:rPr lang="en-US" sz="1250" i="1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ARCHIVELOG mode, a group is also archived before it's reused.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EVERYONE LEARNS FIRST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Undo Exists — Job 1: Rollback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Performance Tuning &amp; Troubleshooting  •  Day 4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418320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42062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Oracle changes a block, it first writes the block's pre-change image to undo.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pre-change image is what makes ROLLBACK possible.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failed statement becomes automatically and completely reversible — no application code needed.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job one — and it's exactly where the misconception starts.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74920" y="2286000"/>
            <a:ext cx="1965960" cy="960120"/>
          </a:xfrm>
          <a:prstGeom prst="roundRect">
            <a:avLst>
              <a:gd name="adj" fmla="val 5714"/>
            </a:avLst>
          </a:prstGeom>
          <a:solidFill>
            <a:srgbClr val="F4F8FB"/>
          </a:solidFill>
          <a:ln w="15875">
            <a:solidFill>
              <a:srgbClr val="21295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120640" y="2340864"/>
            <a:ext cx="18745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IMAGE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983480" y="3319272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first, into undo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7040880" y="2249424"/>
            <a:ext cx="320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360920" y="2286000"/>
            <a:ext cx="1965960" cy="960120"/>
          </a:xfrm>
          <a:prstGeom prst="roundRect">
            <a:avLst>
              <a:gd name="adj" fmla="val 5714"/>
            </a:avLst>
          </a:prstGeom>
          <a:solidFill>
            <a:srgbClr val="F4F8FB"/>
          </a:solidFill>
          <a:ln w="15875">
            <a:solidFill>
              <a:srgbClr val="21295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06640" y="2340864"/>
            <a:ext cx="18745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CHANGED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269480" y="3319272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value, in the buffer cache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9326880" y="2249424"/>
            <a:ext cx="320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9646920" y="2286000"/>
            <a:ext cx="1965960" cy="960120"/>
          </a:xfrm>
          <a:prstGeom prst="roundRect">
            <a:avLst>
              <a:gd name="adj" fmla="val 5714"/>
            </a:avLst>
          </a:prstGeom>
          <a:solidFill>
            <a:srgbClr val="F4F8FB"/>
          </a:solidFill>
          <a:ln w="15875">
            <a:solidFill>
              <a:srgbClr val="21295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692640" y="2340864"/>
            <a:ext cx="18745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REAPPLIES UNDO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9555480" y="3319272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restores pre-transaction state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48640" y="580644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4F8FB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580644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   </a:t>
            </a:r>
            <a:pPr indent="0" marL="0">
              <a:buNone/>
            </a:pPr>
            <a:r>
              <a:rPr lang="en-US" sz="1250" i="1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"Undo is just for rollback" — the trap most beginners fall into next.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DAY'S SINGLE MOST IMPORTANT SLIDE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Undo Exists — Job 2: Read Consistency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Performance Tuning &amp; Troubleshooting  •  Day 4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418320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1956816" cy="1097280"/>
          </a:xfrm>
          <a:prstGeom prst="roundRect">
            <a:avLst>
              <a:gd name="adj" fmla="val 5000"/>
            </a:avLst>
          </a:prstGeom>
          <a:solidFill>
            <a:srgbClr val="F4F8FB"/>
          </a:solidFill>
          <a:ln w="15875">
            <a:solidFill>
              <a:srgbClr val="21295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2340864"/>
            <a:ext cx="186537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A: QUERY STARTS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456432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SCN noted — the query's fixed point in time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2505456" y="2249424"/>
            <a:ext cx="320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825496" y="2286000"/>
            <a:ext cx="1956816" cy="1097280"/>
          </a:xfrm>
          <a:prstGeom prst="roundRect">
            <a:avLst>
              <a:gd name="adj" fmla="val 5000"/>
            </a:avLst>
          </a:prstGeom>
          <a:solidFill>
            <a:srgbClr val="F4F8FB"/>
          </a:solidFill>
          <a:ln w="15875">
            <a:solidFill>
              <a:srgbClr val="21295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871216" y="2340864"/>
            <a:ext cx="186537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B: COMMITS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2734056" y="3456432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+ commits the same block, later on the timeline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4782312" y="2249424"/>
            <a:ext cx="320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102352" y="2286000"/>
            <a:ext cx="1956816" cy="1097280"/>
          </a:xfrm>
          <a:prstGeom prst="roundRect">
            <a:avLst>
              <a:gd name="adj" fmla="val 5000"/>
            </a:avLst>
          </a:prstGeom>
          <a:solidFill>
            <a:srgbClr val="F4F8FB"/>
          </a:solidFill>
          <a:ln w="15875">
            <a:solidFill>
              <a:srgbClr val="21295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148072" y="2340864"/>
            <a:ext cx="186537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A: STILL READING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5010912" y="3456432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reaches that block after B's commit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7059168" y="2249424"/>
            <a:ext cx="320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7379208" y="2286000"/>
            <a:ext cx="1956816" cy="1097280"/>
          </a:xfrm>
          <a:prstGeom prst="roundRect">
            <a:avLst>
              <a:gd name="adj" fmla="val 5000"/>
            </a:avLst>
          </a:prstGeom>
          <a:solidFill>
            <a:srgbClr val="F4F8FB"/>
          </a:solidFill>
          <a:ln w="15875">
            <a:solidFill>
              <a:srgbClr val="21295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424928" y="2340864"/>
            <a:ext cx="186537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DETECTS THE CHANGE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7287768" y="3456432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block's SCN is newer than the query's snapshot SCN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9336024" y="2249424"/>
            <a:ext cx="320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9656064" y="2286000"/>
            <a:ext cx="1956816" cy="1097280"/>
          </a:xfrm>
          <a:prstGeom prst="roundRect">
            <a:avLst>
              <a:gd name="adj" fmla="val 5000"/>
            </a:avLst>
          </a:prstGeom>
          <a:solidFill>
            <a:srgbClr val="F4F8FB"/>
          </a:solidFill>
          <a:ln w="15875">
            <a:solidFill>
              <a:srgbClr val="21295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701784" y="2340864"/>
            <a:ext cx="186537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 RECONSTRUCTS OLD VALUE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9564624" y="3456432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A still sees its snapshot's original value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48640" y="580644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4F8FB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77240" y="580644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   </a:t>
            </a:r>
            <a:pPr indent="0" marL="0">
              <a:buNone/>
            </a:pPr>
            <a:r>
              <a:rPr lang="en-US" sz="1250" i="1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query gets this guarantee automatically — whether or not anyone ever rolls back anything.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DOWN HERE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Misconceptions, Killed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Performance Tuning &amp; Troubleshooting  •  Day 4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9418320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349240" cy="3566160"/>
          </a:xfrm>
          <a:prstGeom prst="roundRect">
            <a:avLst>
              <a:gd name="adj" fmla="val 2051"/>
            </a:avLst>
          </a:prstGeom>
          <a:solidFill>
            <a:srgbClr val="F4F8FB"/>
          </a:solidFill>
          <a:ln w="12700">
            <a:solidFill>
              <a:srgbClr val="D8E3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874520"/>
            <a:ext cx="5349240" cy="502920"/>
          </a:xfrm>
          <a:prstGeom prst="roundRect">
            <a:avLst>
              <a:gd name="adj" fmla="val 14545"/>
            </a:avLst>
          </a:prstGeom>
          <a:solidFill>
            <a:srgbClr val="B23A2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87452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"Undo is just for rollback"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560320"/>
            <a:ext cx="4892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2 is read consistency — every query gets a stable snapshot.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even when nobody ever rolls back anything.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63640" y="1874520"/>
            <a:ext cx="5349240" cy="3566160"/>
          </a:xfrm>
          <a:prstGeom prst="roundRect">
            <a:avLst>
              <a:gd name="adj" fmla="val 2051"/>
            </a:avLst>
          </a:prstGeom>
          <a:solidFill>
            <a:srgbClr val="F4F8FB"/>
          </a:solidFill>
          <a:ln w="12700">
            <a:solidFill>
              <a:srgbClr val="D8E3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63640" y="1874520"/>
            <a:ext cx="5349240" cy="502920"/>
          </a:xfrm>
          <a:prstGeom prst="roundRect">
            <a:avLst>
              <a:gd name="adj" fmla="val 14545"/>
            </a:avLst>
          </a:prstGeom>
          <a:solidFill>
            <a:srgbClr val="B23A2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63640" y="187452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"Redo and undo are the same thing"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2560320"/>
            <a:ext cx="4892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Redo is forward-looking: replay on crash.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 is backward-looking: reverse or reconstruct.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undo itself generates redo, on top of the redo protecting the data change.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580644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4F8FB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580644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   </a:t>
            </a:r>
            <a:pPr indent="0" marL="0">
              <a:buNone/>
            </a:pPr>
            <a:r>
              <a:rPr lang="en-US" sz="1250" i="1" dirty="0">
                <a:solidFill>
                  <a:srgbClr val="173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highest-value five minutes of the whole session — don't let this rush by.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486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 &amp; Bridge to Day 5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554480"/>
            <a:ext cx="10241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hierarchy, both directions: block ↔ extent ↔ segment ↔ tablespace ↔ datafile.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ROWID is a physical address — DBMS_ROWID decodes it into object, file, block, row.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Redo protects durability: nothing committed is ever lost, even on a crash.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 protects reversibility (rollback) AND read consistency — every query's stable snapshot.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forces redo to disk synchronously, not the data block — that asymmetry is why commits are fast.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4160520"/>
            <a:ext cx="10241280" cy="1051560"/>
          </a:xfrm>
          <a:prstGeom prst="roundRect">
            <a:avLst>
              <a:gd name="adj" fmla="val 6957"/>
            </a:avLst>
          </a:prstGeom>
          <a:solidFill>
            <a:srgbClr val="065A82">
              <a:alpha val="75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416052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a PERF_LAB.CUSTOMERS row to its physical block/file/extent; explain in your own words why a crash can lose an uncommitted transaction but never a committed one; and check V$LOG/V$LOGFILE on your lab instance for group and member counts.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548640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you saw what changes and where. Tomorrow: which process actually does the writing — Day 5, process architecture (LGWR, DBWn, and the rest).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Performance Tuning &amp; Troubleshooting  •  Day 4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9418320" y="6510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Oracle Database Performance Tuning and Troubleshooting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4: Architecture Bootcamp II, Storage</dc:title>
  <dc:subject>Day 4: Architecture Bootcamp II, Storage</dc:subject>
  <dc:creator>Amit Pawar</dc:creator>
  <cp:lastModifiedBy>Amit Pawar</cp:lastModifiedBy>
  <cp:revision>1</cp:revision>
  <dcterms:created xsi:type="dcterms:W3CDTF">2026-08-28T20:01:49Z</dcterms:created>
  <dcterms:modified xsi:type="dcterms:W3CDTF">2026-08-28T20:01:49Z</dcterms:modified>
</cp:coreProperties>
</file>